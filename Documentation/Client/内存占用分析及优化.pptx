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23" d="100"/>
          <a:sy n="123" d="100"/>
        </p:scale>
        <p:origin x="-128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02DC5-9F29-44F5-B5AC-81F38AA8DF6A}" type="datetimeFigureOut">
              <a:rPr lang="en-US" smtClean="0"/>
              <a:pPr/>
              <a:t>7/15/2013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48DE5-57C7-43D9-9307-104C5DA609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642918"/>
            <a:ext cx="7772400" cy="1470025"/>
          </a:xfrm>
        </p:spPr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内存占用分析及优化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内容占位符 3"/>
          <p:cNvGraphicFramePr>
            <a:graphicFrameLocks/>
          </p:cNvGraphicFramePr>
          <p:nvPr/>
        </p:nvGraphicFramePr>
        <p:xfrm>
          <a:off x="928662" y="2714620"/>
          <a:ext cx="3000396" cy="340044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00198"/>
                <a:gridCol w="1500198"/>
              </a:tblGrid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优化模块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重复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UI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贴图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103.12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音频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109.76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内存碎片优化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&gt;85.31</a:t>
                      </a: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总计</a:t>
                      </a:r>
                      <a:endParaRPr lang="en-US" sz="1100" b="1" i="0" u="none" strike="noStrike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&gt;298.19</a:t>
                      </a: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配置数据加载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&gt;200MB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UI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贴图拼接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&gt;50MB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特效材质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&gt;30MB</a:t>
                      </a: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Scaleform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系统开销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&gt;60MB</a:t>
                      </a: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动画压缩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&gt;40MB</a:t>
                      </a: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预估总计</a:t>
                      </a:r>
                      <a:endParaRPr lang="en-US" sz="1100" b="0" i="0" u="none" strike="noStrike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&gt;380MB</a:t>
                      </a: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 smtClean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4288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全部</a:t>
                      </a:r>
                      <a:endParaRPr lang="en-US" sz="1100" b="0" i="0" u="none" strike="noStrike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&gt;678MB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 smtClean="0"/>
              <a:t>内存占用计算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 smtClean="0"/>
              <a:t>32</a:t>
            </a:r>
            <a:r>
              <a:rPr lang="zh-CN" altLang="en-US" dirty="0" smtClean="0"/>
              <a:t>位系统可用虚拟内存大小</a:t>
            </a:r>
            <a:r>
              <a:rPr lang="en-US" altLang="zh-CN" dirty="0" smtClean="0"/>
              <a:t>2G</a:t>
            </a:r>
          </a:p>
          <a:p>
            <a:r>
              <a:rPr lang="zh-CN" altLang="en-US" dirty="0" smtClean="0"/>
              <a:t>简化的总内存占用计算公式：</a:t>
            </a:r>
            <a:endParaRPr lang="en-US" altLang="zh-CN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00100" y="2928935"/>
          <a:ext cx="7358114" cy="23574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12700" dir="2700000" algn="tl" rotWithShape="0">
                    <a:prstClr val="black">
                      <a:alpha val="40000"/>
                    </a:prstClr>
                  </a:outerShdw>
                </a:effectLst>
                <a:tableStyleId>{3B4B98B0-60AC-42C2-AFA5-B58CD77FA1E5}</a:tableStyleId>
              </a:tblPr>
              <a:tblGrid>
                <a:gridCol w="7358114"/>
              </a:tblGrid>
              <a:tr h="4116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总内存 </a:t>
                      </a:r>
                      <a:r>
                        <a:rPr lang="en-US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= </a:t>
                      </a:r>
                      <a:r>
                        <a:rPr lang="zh-CN" altLang="en-US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游戏分配 </a:t>
                      </a:r>
                      <a:r>
                        <a:rPr lang="en-US" altLang="zh-CN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+ </a:t>
                      </a:r>
                      <a:r>
                        <a:rPr lang="zh-CN" altLang="en-US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系统开销 </a:t>
                      </a:r>
                      <a:r>
                        <a:rPr lang="en-US" altLang="zh-CN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+ </a:t>
                      </a:r>
                      <a:r>
                        <a:rPr lang="zh-CN" altLang="en-US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浪费空间 </a:t>
                      </a:r>
                      <a:r>
                        <a:rPr lang="en-US" altLang="zh-CN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+ </a:t>
                      </a:r>
                      <a:r>
                        <a:rPr lang="zh-CN" altLang="en-US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剩余可用</a:t>
                      </a:r>
                      <a:endParaRPr lang="en-US" altLang="zh-CN" sz="14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4116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系统开销：</a:t>
                      </a:r>
                      <a:r>
                        <a:rPr lang="en-US" altLang="zh-CN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EXE</a:t>
                      </a:r>
                      <a:r>
                        <a:rPr lang="zh-CN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文件、</a:t>
                      </a:r>
                      <a:r>
                        <a:rPr lang="en-US" altLang="zh-CN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DLL</a:t>
                      </a:r>
                      <a:r>
                        <a:rPr lang="zh-CN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文件、字体文件、线程开销等等</a:t>
                      </a:r>
                      <a:endParaRPr lang="en-US" sz="14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411619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浪费</a:t>
                      </a:r>
                      <a:r>
                        <a:rPr kumimoji="0" lang="zh-CN" altLang="en-US" sz="1400" kern="12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n-ea"/>
                          <a:cs typeface="+mn-cs"/>
                        </a:rPr>
                        <a:t>空间</a:t>
                      </a:r>
                      <a:r>
                        <a:rPr lang="zh-CN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：游戏无法用到的内存碎片</a:t>
                      </a:r>
                      <a:endParaRPr 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411619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剩余可用：剩下的可被游戏用到的（当最大可用块无法满足分配大小时也会导致内存不足）</a:t>
                      </a:r>
                      <a:endParaRPr 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710976"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游戏分配 ：模型、贴图、材质、动画、特效、音效、配置文件、程序逻辑等等</a:t>
                      </a:r>
                      <a:endParaRPr lang="en-U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 smtClean="0">
                <a:latin typeface="+mj-ea"/>
              </a:rPr>
              <a:t>音频</a:t>
            </a:r>
            <a:endParaRPr lang="en-US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857488" y="4714884"/>
          <a:ext cx="3357588" cy="6429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9196"/>
                <a:gridCol w="1119196"/>
                <a:gridCol w="1119196"/>
              </a:tblGrid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优化前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优化后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134.84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25.08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109.76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643050"/>
            <a:ext cx="6572296" cy="800219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发布包未压缩存储，</a:t>
            </a:r>
            <a:r>
              <a:rPr lang="en-US" altLang="zh-CN" sz="1400" dirty="0" smtClean="0">
                <a:latin typeface="+mj-ea"/>
                <a:ea typeface="+mj-ea"/>
              </a:rPr>
              <a:t>COOK</a:t>
            </a:r>
            <a:r>
              <a:rPr lang="zh-CN" altLang="en-US" sz="1400" dirty="0" smtClean="0">
                <a:latin typeface="+mj-ea"/>
                <a:ea typeface="+mj-ea"/>
              </a:rPr>
              <a:t>流程会自动压缩，但目前未用</a:t>
            </a:r>
            <a:r>
              <a:rPr lang="en-US" altLang="zh-CN" sz="1400" dirty="0" smtClean="0">
                <a:latin typeface="+mj-ea"/>
                <a:ea typeface="+mj-ea"/>
              </a:rPr>
              <a:t>COOK</a:t>
            </a:r>
            <a:r>
              <a:rPr lang="zh-CN" altLang="en-US" sz="1400" dirty="0" smtClean="0">
                <a:latin typeface="+mj-ea"/>
                <a:ea typeface="+mj-ea"/>
              </a:rPr>
              <a:t>方式发布版本，以后会采用</a:t>
            </a:r>
            <a:r>
              <a:rPr lang="en-US" altLang="zh-CN" sz="1400" dirty="0" smtClean="0">
                <a:latin typeface="+mj-ea"/>
                <a:ea typeface="+mj-ea"/>
              </a:rPr>
              <a:t>COOK</a:t>
            </a:r>
            <a:r>
              <a:rPr lang="zh-CN" altLang="en-US" sz="1400" dirty="0" smtClean="0">
                <a:latin typeface="+mj-ea"/>
                <a:ea typeface="+mj-ea"/>
              </a:rPr>
              <a:t>后的数据发布。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728" y="3143248"/>
            <a:ext cx="6572296" cy="1015663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调整参数，压缩音效散装发布包</a:t>
            </a:r>
            <a:r>
              <a:rPr lang="en-US" altLang="zh-CN" sz="1400" dirty="0" smtClean="0">
                <a:latin typeface="+mj-ea"/>
                <a:ea typeface="+mj-ea"/>
              </a:rPr>
              <a:t>UPK</a:t>
            </a:r>
            <a:r>
              <a:rPr lang="zh-CN" altLang="en-US" sz="1400" dirty="0" smtClean="0">
                <a:latin typeface="+mj-ea"/>
                <a:ea typeface="+mj-ea"/>
              </a:rPr>
              <a:t>，配置文件：</a:t>
            </a:r>
            <a:endParaRPr lang="en-US" altLang="zh-CN" sz="1400" dirty="0" smtClean="0">
              <a:latin typeface="+mj-ea"/>
              <a:ea typeface="+mj-ea"/>
            </a:endParaRPr>
          </a:p>
          <a:p>
            <a:r>
              <a:rPr lang="en-US" altLang="zh-CN" sz="1400" dirty="0" smtClean="0">
                <a:latin typeface="+mj-ea"/>
                <a:ea typeface="+mj-ea"/>
              </a:rPr>
              <a:t>[XAudio2.XAudio2Device]</a:t>
            </a:r>
          </a:p>
          <a:p>
            <a:r>
              <a:rPr lang="en-US" altLang="zh-CN" sz="1400" dirty="0" err="1" smtClean="0">
                <a:latin typeface="+mj-ea"/>
                <a:ea typeface="+mj-ea"/>
              </a:rPr>
              <a:t>MinCompressedDurationGame</a:t>
            </a:r>
            <a:r>
              <a:rPr lang="en-US" altLang="zh-CN" sz="1400" dirty="0" smtClean="0">
                <a:latin typeface="+mj-ea"/>
                <a:ea typeface="+mj-ea"/>
              </a:rPr>
              <a:t>=0.25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重复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UI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贴图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857488" y="5214950"/>
          <a:ext cx="3357588" cy="6429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9196"/>
                <a:gridCol w="1119196"/>
                <a:gridCol w="1119196"/>
              </a:tblGrid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优化前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KB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优化后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KB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1417100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1311508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103.12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643050"/>
            <a:ext cx="6500858" cy="1877437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分包引用后的贴图被重复加载，由于采用的相对路径与原来</a:t>
            </a:r>
            <a:r>
              <a:rPr lang="en-US" altLang="zh-CN" sz="1400" dirty="0" smtClean="0">
                <a:latin typeface="+mj-ea"/>
                <a:ea typeface="+mj-ea"/>
              </a:rPr>
              <a:t>GFX</a:t>
            </a:r>
            <a:r>
              <a:rPr lang="zh-CN" altLang="en-US" sz="1400" dirty="0" smtClean="0">
                <a:latin typeface="+mj-ea"/>
                <a:ea typeface="+mj-ea"/>
              </a:rPr>
              <a:t>封装的算法不对应，以前每个</a:t>
            </a:r>
            <a:r>
              <a:rPr lang="en-US" altLang="zh-CN" sz="1400" dirty="0" smtClean="0">
                <a:latin typeface="+mj-ea"/>
                <a:ea typeface="+mj-ea"/>
              </a:rPr>
              <a:t>UI</a:t>
            </a:r>
            <a:r>
              <a:rPr lang="zh-CN" altLang="en-US" sz="1400" dirty="0" smtClean="0">
                <a:latin typeface="+mj-ea"/>
                <a:ea typeface="+mj-ea"/>
              </a:rPr>
              <a:t>资源包引用公共资源是：</a:t>
            </a:r>
            <a:endParaRPr lang="en-US" altLang="zh-CN" sz="1400" dirty="0" smtClean="0">
              <a:latin typeface="+mj-ea"/>
              <a:ea typeface="+mj-ea"/>
            </a:endParaRPr>
          </a:p>
          <a:p>
            <a:r>
              <a:rPr lang="en-US" altLang="zh-CN" sz="1400" dirty="0" smtClean="0">
                <a:solidFill>
                  <a:srgbClr val="FF0000"/>
                </a:solidFill>
                <a:latin typeface="+mj-ea"/>
                <a:ea typeface="+mj-ea"/>
              </a:rPr>
              <a:t>../</a:t>
            </a:r>
            <a:r>
              <a:rPr lang="en-US" altLang="zh-CN" sz="1400" dirty="0" err="1" smtClean="0">
                <a:solidFill>
                  <a:srgbClr val="FF0000"/>
                </a:solidFill>
                <a:latin typeface="+mj-ea"/>
                <a:ea typeface="+mj-ea"/>
              </a:rPr>
              <a:t>UI_MyComponent</a:t>
            </a:r>
            <a:r>
              <a:rPr lang="en-US" altLang="zh-CN" sz="1400" dirty="0" smtClean="0">
                <a:solidFill>
                  <a:srgbClr val="FF0000"/>
                </a:solidFill>
                <a:latin typeface="+mj-ea"/>
                <a:ea typeface="+mj-ea"/>
              </a:rPr>
              <a:t>/MyComponent.swf</a:t>
            </a:r>
          </a:p>
          <a:p>
            <a:r>
              <a:rPr lang="zh-CN" altLang="en-US" sz="1400" dirty="0" smtClean="0">
                <a:latin typeface="+mj-ea"/>
                <a:ea typeface="+mj-ea"/>
              </a:rPr>
              <a:t>现在是：</a:t>
            </a:r>
            <a:endParaRPr lang="en-US" altLang="zh-CN" sz="1400" dirty="0" smtClean="0">
              <a:latin typeface="+mj-ea"/>
              <a:ea typeface="+mj-ea"/>
            </a:endParaRPr>
          </a:p>
          <a:p>
            <a:r>
              <a:rPr lang="en-US" altLang="zh-CN" sz="1400" dirty="0" smtClean="0">
                <a:solidFill>
                  <a:srgbClr val="FF0000"/>
                </a:solidFill>
                <a:latin typeface="+mj-ea"/>
                <a:ea typeface="+mj-ea"/>
              </a:rPr>
              <a:t>./</a:t>
            </a:r>
            <a:r>
              <a:rPr lang="en-US" altLang="zh-CN" sz="1400" dirty="0" err="1" smtClean="0">
                <a:solidFill>
                  <a:srgbClr val="FF0000"/>
                </a:solidFill>
                <a:latin typeface="+mj-ea"/>
                <a:ea typeface="+mj-ea"/>
              </a:rPr>
              <a:t>UI_Quest</a:t>
            </a:r>
            <a:r>
              <a:rPr lang="en-US" altLang="zh-CN" sz="1400" dirty="0" smtClean="0">
                <a:solidFill>
                  <a:srgbClr val="FF0000"/>
                </a:solidFill>
                <a:latin typeface="+mj-ea"/>
                <a:ea typeface="+mj-ea"/>
              </a:rPr>
              <a:t>/../</a:t>
            </a:r>
            <a:r>
              <a:rPr lang="en-US" altLang="zh-CN" sz="1400" dirty="0" err="1" smtClean="0">
                <a:solidFill>
                  <a:srgbClr val="FF0000"/>
                </a:solidFill>
                <a:latin typeface="+mj-ea"/>
              </a:rPr>
              <a:t>UI_MyComponent</a:t>
            </a:r>
            <a:r>
              <a:rPr lang="en-US" altLang="zh-CN" sz="1400" dirty="0" smtClean="0">
                <a:solidFill>
                  <a:srgbClr val="FF0000"/>
                </a:solidFill>
                <a:latin typeface="+mj-ea"/>
              </a:rPr>
              <a:t>/</a:t>
            </a:r>
            <a:r>
              <a:rPr lang="en-US" altLang="zh-CN" sz="1400" dirty="0" smtClean="0">
                <a:solidFill>
                  <a:srgbClr val="FF0000"/>
                </a:solidFill>
                <a:latin typeface="+mj-ea"/>
                <a:ea typeface="+mj-ea"/>
              </a:rPr>
              <a:t>MyComponent.swf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+mj-ea"/>
              </a:rPr>
              <a:t>./</a:t>
            </a:r>
            <a:r>
              <a:rPr lang="en-US" altLang="zh-CN" sz="1400" dirty="0" err="1" smtClean="0">
                <a:solidFill>
                  <a:srgbClr val="FF0000"/>
                </a:solidFill>
                <a:latin typeface="+mj-ea"/>
              </a:rPr>
              <a:t>UI_Chat</a:t>
            </a:r>
            <a:r>
              <a:rPr lang="en-US" altLang="zh-CN" sz="1400" dirty="0" smtClean="0">
                <a:solidFill>
                  <a:srgbClr val="FF0000"/>
                </a:solidFill>
                <a:latin typeface="+mj-ea"/>
              </a:rPr>
              <a:t>/../</a:t>
            </a:r>
            <a:r>
              <a:rPr lang="en-US" altLang="zh-CN" sz="1400" dirty="0" err="1" smtClean="0">
                <a:solidFill>
                  <a:srgbClr val="FF0000"/>
                </a:solidFill>
                <a:latin typeface="+mj-ea"/>
              </a:rPr>
              <a:t>UI_MyComponent</a:t>
            </a:r>
            <a:r>
              <a:rPr lang="en-US" altLang="zh-CN" sz="1400" dirty="0" smtClean="0">
                <a:solidFill>
                  <a:srgbClr val="FF0000"/>
                </a:solidFill>
                <a:latin typeface="+mj-ea"/>
              </a:rPr>
              <a:t>/MyComponent.swf</a:t>
            </a:r>
            <a:endParaRPr lang="en-US" altLang="zh-CN" sz="1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这样会造成错误的路径引用导致多次加载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728" y="4357694"/>
            <a:ext cx="6643734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修改</a:t>
            </a:r>
            <a:r>
              <a:rPr lang="en-US" altLang="zh-CN" sz="1400" dirty="0" smtClean="0">
                <a:latin typeface="+mj-ea"/>
                <a:ea typeface="+mj-ea"/>
              </a:rPr>
              <a:t>GFX</a:t>
            </a:r>
            <a:r>
              <a:rPr lang="zh-CN" altLang="en-US" sz="1400" dirty="0" smtClean="0">
                <a:latin typeface="+mj-ea"/>
                <a:ea typeface="+mj-ea"/>
              </a:rPr>
              <a:t>原来在</a:t>
            </a:r>
            <a:r>
              <a:rPr lang="en-US" altLang="zh-CN" sz="1400" dirty="0" smtClean="0">
                <a:latin typeface="+mj-ea"/>
                <a:ea typeface="+mj-ea"/>
              </a:rPr>
              <a:t>UE3</a:t>
            </a:r>
            <a:r>
              <a:rPr lang="zh-CN" altLang="en-US" sz="1400" dirty="0" smtClean="0">
                <a:latin typeface="+mj-ea"/>
                <a:ea typeface="+mj-ea"/>
              </a:rPr>
              <a:t>的加载代码，适应现有的并行工作机制。</a:t>
            </a:r>
            <a:endParaRPr lang="en-US" sz="11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 smtClean="0">
                <a:latin typeface="+mj-ea"/>
              </a:rPr>
              <a:t>内存分配器</a:t>
            </a:r>
            <a:endParaRPr lang="en-US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714480" y="3500438"/>
          <a:ext cx="5715044" cy="183357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28761"/>
                <a:gridCol w="1428761"/>
                <a:gridCol w="1428761"/>
                <a:gridCol w="1428761"/>
              </a:tblGrid>
              <a:tr h="261939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zh-CN" altLang="en-US" sz="1100" b="1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统计项</a:t>
                      </a:r>
                      <a:endParaRPr kumimoji="0" lang="en-US" altLang="en-US" sz="1100" b="1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  <a:latin typeface="+mj-ea"/>
                          <a:ea typeface="+mj-ea"/>
                        </a:rPr>
                        <a:t>优化前</a:t>
                      </a:r>
                      <a:r>
                        <a:rPr lang="en-US" altLang="zh-CN" sz="1100" u="none" strike="noStrike" dirty="0" smtClean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  <a:latin typeface="+mj-ea"/>
                          <a:ea typeface="+mj-ea"/>
                        </a:rPr>
                        <a:t>KB</a:t>
                      </a:r>
                      <a:r>
                        <a:rPr lang="en-US" sz="11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  <a:latin typeface="+mj-ea"/>
                          <a:ea typeface="+mj-ea"/>
                        </a:rPr>
                        <a:t>优化后</a:t>
                      </a:r>
                      <a:r>
                        <a:rPr lang="en-US" altLang="zh-CN" sz="1100" u="none" strike="noStrike" dirty="0" smtClean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  <a:latin typeface="+mj-ea"/>
                          <a:ea typeface="+mj-ea"/>
                        </a:rPr>
                        <a:t>KB</a:t>
                      </a:r>
                      <a:r>
                        <a:rPr lang="en-US" sz="11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  <a:latin typeface="+mj-ea"/>
                          <a:ea typeface="+mj-ea"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  <a:latin typeface="+mj-ea"/>
                          <a:ea typeface="+mj-ea"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</a:tr>
              <a:tr h="26193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总大小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2004984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1917624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85.31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</a:tr>
              <a:tr h="26193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不可用碎片内存</a:t>
                      </a:r>
                      <a:r>
                        <a:rPr kumimoji="0" lang="zh-CN" altLang="en-US" sz="1100" b="0" i="0" u="none" strike="noStrike" kern="1200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大小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337568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13560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316.41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</a:tr>
              <a:tr h="26193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已使用内存大小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774832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1011488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-231.11</a:t>
                      </a:r>
                      <a:endParaRPr lang="en-US" sz="1100" b="0" i="0" u="none" strike="noStrike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</a:tr>
              <a:tr h="26193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已使用内存块数量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8853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7948</a:t>
                      </a:r>
                      <a:endParaRPr lang="en-US" sz="1100" b="0" i="0" u="none" strike="noStrike" dirty="0">
                        <a:solidFill>
                          <a:srgbClr val="C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</a:tr>
              <a:tr h="26193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剩余内存大小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2189256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2276616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85.31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</a:tr>
              <a:tr h="261939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zh-CN" alt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剩余内存块数量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285860"/>
            <a:ext cx="6643734" cy="800219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en-US" altLang="zh-CN" sz="1400" dirty="0" smtClean="0">
                <a:latin typeface="+mj-ea"/>
                <a:ea typeface="+mj-ea"/>
              </a:rPr>
              <a:t>UE3</a:t>
            </a:r>
            <a:r>
              <a:rPr lang="zh-CN" altLang="en-US" sz="1400" dirty="0" smtClean="0">
                <a:latin typeface="+mj-ea"/>
                <a:ea typeface="+mj-ea"/>
              </a:rPr>
              <a:t>的内存分配器</a:t>
            </a:r>
            <a:r>
              <a:rPr lang="en-US" altLang="zh-CN" sz="1400" dirty="0" smtClean="0">
                <a:latin typeface="+mj-ea"/>
                <a:ea typeface="+mj-ea"/>
              </a:rPr>
              <a:t>RELEASE</a:t>
            </a:r>
            <a:r>
              <a:rPr lang="zh-CN" altLang="en-US" sz="1400" dirty="0" smtClean="0">
                <a:latin typeface="+mj-ea"/>
                <a:ea typeface="+mj-ea"/>
              </a:rPr>
              <a:t>版本对小内存分配优化为</a:t>
            </a:r>
            <a:r>
              <a:rPr lang="en-US" altLang="zh-CN" sz="1400" dirty="0" smtClean="0">
                <a:latin typeface="+mj-ea"/>
                <a:ea typeface="+mj-ea"/>
              </a:rPr>
              <a:t>32</a:t>
            </a:r>
            <a:r>
              <a:rPr lang="zh-CN" altLang="en-US" sz="1400" dirty="0" smtClean="0">
                <a:latin typeface="+mj-ea"/>
                <a:ea typeface="+mj-ea"/>
              </a:rPr>
              <a:t>字节对齐的内存池管理，但有大量的材质类型信息需要用到</a:t>
            </a:r>
            <a:r>
              <a:rPr lang="en-US" altLang="zh-CN" sz="1400" dirty="0" smtClean="0">
                <a:latin typeface="+mj-ea"/>
                <a:ea typeface="+mj-ea"/>
              </a:rPr>
              <a:t>12</a:t>
            </a:r>
            <a:r>
              <a:rPr lang="zh-CN" altLang="en-US" sz="1400" dirty="0" smtClean="0">
                <a:latin typeface="+mj-ea"/>
                <a:ea typeface="+mj-ea"/>
              </a:rPr>
              <a:t>字节内存，碎片浪费比较严重。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166" y="2571744"/>
            <a:ext cx="6500858" cy="800219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替换</a:t>
            </a:r>
            <a:r>
              <a:rPr lang="en-US" altLang="zh-CN" sz="1400" dirty="0" smtClean="0">
                <a:latin typeface="+mj-ea"/>
                <a:ea typeface="+mj-ea"/>
              </a:rPr>
              <a:t>UE3</a:t>
            </a:r>
            <a:r>
              <a:rPr lang="zh-CN" altLang="en-US" sz="1400" dirty="0" smtClean="0">
                <a:latin typeface="+mj-ea"/>
                <a:ea typeface="+mj-ea"/>
              </a:rPr>
              <a:t>的内存分配器，采用更节省的内存池分配器，优化小内存分配。以下是统计数据对比（启动到登录画面）</a:t>
            </a:r>
            <a:r>
              <a:rPr lang="en-US" altLang="zh-CN" sz="1400" dirty="0" smtClean="0">
                <a:latin typeface="+mj-ea"/>
                <a:ea typeface="+mj-ea"/>
              </a:rPr>
              <a:t>: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1604" y="5572140"/>
            <a:ext cx="6500858" cy="900246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050" dirty="0" smtClean="0">
                <a:latin typeface="+mj-ea"/>
                <a:ea typeface="+mj-ea"/>
              </a:rPr>
              <a:t>由于 有了游戏内的内存池，通过系统工具统计的可用进程内存比实际可用的要小，但在游戏中可用的内存会更多，其中多分配的</a:t>
            </a:r>
            <a:r>
              <a:rPr lang="en-US" altLang="zh-CN" sz="1050" dirty="0" smtClean="0">
                <a:latin typeface="+mj-ea"/>
                <a:ea typeface="+mj-ea"/>
              </a:rPr>
              <a:t>231M</a:t>
            </a:r>
            <a:r>
              <a:rPr lang="zh-CN" altLang="en-US" sz="1050" dirty="0" smtClean="0">
                <a:latin typeface="+mj-ea"/>
                <a:ea typeface="+mj-ea"/>
              </a:rPr>
              <a:t>左右的就全在内存池了，这部分在游戏中使用时，会优先被利用起来，直到不够用了，再会申请分配系统可用的内存。</a:t>
            </a:r>
            <a:endParaRPr lang="en-US" altLang="zh-CN" sz="1050" dirty="0" smtClean="0">
              <a:latin typeface="+mj-ea"/>
              <a:ea typeface="+mj-ea"/>
            </a:endParaRPr>
          </a:p>
          <a:p>
            <a:endParaRPr lang="en-US" altLang="zh-CN" sz="1050" dirty="0" smtClean="0">
              <a:latin typeface="+mj-ea"/>
              <a:ea typeface="+mj-ea"/>
            </a:endParaRPr>
          </a:p>
          <a:p>
            <a:r>
              <a:rPr lang="zh-CN" altLang="en-US" sz="1050" dirty="0" smtClean="0">
                <a:latin typeface="+mj-ea"/>
                <a:ea typeface="+mj-ea"/>
              </a:rPr>
              <a:t>另外内存块数少了</a:t>
            </a:r>
            <a:r>
              <a:rPr lang="en-US" altLang="zh-CN" sz="1050" dirty="0" smtClean="0">
                <a:latin typeface="+mj-ea"/>
                <a:ea typeface="+mj-ea"/>
              </a:rPr>
              <a:t>7948</a:t>
            </a:r>
            <a:r>
              <a:rPr lang="zh-CN" altLang="en-US" sz="1050" dirty="0" smtClean="0">
                <a:latin typeface="+mj-ea"/>
                <a:ea typeface="+mj-ea"/>
              </a:rPr>
              <a:t>个，即碎片数量大</a:t>
            </a:r>
            <a:r>
              <a:rPr lang="zh-CN" altLang="en-US" sz="1050" dirty="0">
                <a:latin typeface="+mj-ea"/>
                <a:ea typeface="+mj-ea"/>
              </a:rPr>
              <a:t>量</a:t>
            </a:r>
            <a:r>
              <a:rPr lang="zh-CN" altLang="en-US" sz="1050" dirty="0" smtClean="0">
                <a:latin typeface="+mj-ea"/>
                <a:ea typeface="+mj-ea"/>
              </a:rPr>
              <a:t>减少，能提高内存访问的效率。</a:t>
            </a:r>
            <a:endParaRPr lang="en-US" sz="10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 smtClean="0">
                <a:latin typeface="+mj-ea"/>
              </a:rPr>
              <a:t>配置数据加载</a:t>
            </a:r>
            <a:endParaRPr lang="en-US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857488" y="4714884"/>
          <a:ext cx="3357588" cy="6429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9196"/>
                <a:gridCol w="1119196"/>
                <a:gridCol w="1119196"/>
              </a:tblGrid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优化前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MB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优化后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MB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400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&gt;200MB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643050"/>
            <a:ext cx="6643734" cy="1015663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目前是在启动时将所有的道具、任务、</a:t>
            </a:r>
            <a:r>
              <a:rPr lang="en-US" altLang="zh-CN" sz="1400" dirty="0" smtClean="0">
                <a:latin typeface="+mj-ea"/>
                <a:ea typeface="+mj-ea"/>
              </a:rPr>
              <a:t>NPC</a:t>
            </a:r>
            <a:r>
              <a:rPr lang="zh-CN" altLang="en-US" sz="1400" dirty="0" smtClean="0">
                <a:latin typeface="+mj-ea"/>
                <a:ea typeface="+mj-ea"/>
              </a:rPr>
              <a:t>、技能等所有配置文件都加载，由于</a:t>
            </a:r>
            <a:r>
              <a:rPr lang="en-US" altLang="zh-CN" sz="1400" dirty="0" smtClean="0">
                <a:latin typeface="+mj-ea"/>
                <a:ea typeface="+mj-ea"/>
              </a:rPr>
              <a:t>UE3</a:t>
            </a:r>
            <a:r>
              <a:rPr lang="zh-CN" altLang="en-US" sz="1400" dirty="0" smtClean="0">
                <a:latin typeface="+mj-ea"/>
                <a:ea typeface="+mj-ea"/>
              </a:rPr>
              <a:t>的机制会自动加载引用到的资源，因此等于是将所有的</a:t>
            </a:r>
            <a:r>
              <a:rPr lang="en-US" altLang="zh-CN" sz="1400" dirty="0" smtClean="0">
                <a:latin typeface="+mj-ea"/>
                <a:ea typeface="+mj-ea"/>
              </a:rPr>
              <a:t>NPC</a:t>
            </a:r>
            <a:r>
              <a:rPr lang="zh-CN" altLang="en-US" sz="1400" dirty="0" smtClean="0">
                <a:latin typeface="+mj-ea"/>
                <a:ea typeface="+mj-ea"/>
              </a:rPr>
              <a:t>、特效等相关的模型、动画、贴图等都加载了。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728" y="3143248"/>
            <a:ext cx="6500858" cy="800219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暂时未优化，后面采用部分数据热加载的方式，并根据时间和使用频率对未用到的数据进行定期清除出内存。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 smtClean="0">
                <a:latin typeface="+mj-ea"/>
              </a:rPr>
              <a:t>UI</a:t>
            </a:r>
            <a:r>
              <a:rPr lang="zh-CN" altLang="en-US" dirty="0" smtClean="0">
                <a:latin typeface="+mj-ea"/>
              </a:rPr>
              <a:t>贴图拼接</a:t>
            </a:r>
            <a:endParaRPr lang="en-US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857488" y="4286256"/>
          <a:ext cx="3357588" cy="6429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9196"/>
                <a:gridCol w="1119196"/>
                <a:gridCol w="1119196"/>
              </a:tblGrid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优化前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(M</a:t>
                      </a:r>
                      <a:r>
                        <a:rPr lang="en-US" sz="1100" u="none" strike="noStrike" dirty="0" smtClean="0">
                          <a:effectLst/>
                        </a:rPr>
                        <a:t>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优化后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MB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&gt;50MB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643050"/>
            <a:ext cx="6500858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</a:p>
          <a:p>
            <a:r>
              <a:rPr lang="zh-CN" altLang="en-US" sz="1400" dirty="0" smtClean="0">
                <a:latin typeface="+mj-ea"/>
                <a:ea typeface="+mj-ea"/>
              </a:rPr>
              <a:t>原来部分面板为了美观，直接采用了大图进行制作，并未用九宫格方式进行处理。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28" y="3143248"/>
            <a:ext cx="6643734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优化设计，并采用九宫格方式拼接面板贴图。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 err="1" smtClean="0">
                <a:latin typeface="+mj-ea"/>
              </a:rPr>
              <a:t>Scaleform</a:t>
            </a:r>
            <a:r>
              <a:rPr lang="zh-CN" altLang="en-US" dirty="0" smtClean="0">
                <a:latin typeface="+mj-ea"/>
              </a:rPr>
              <a:t>系统开销</a:t>
            </a:r>
            <a:endParaRPr lang="en-US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857488" y="4286256"/>
          <a:ext cx="3357588" cy="6429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9196"/>
                <a:gridCol w="1119196"/>
                <a:gridCol w="1119196"/>
              </a:tblGrid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优化前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(M</a:t>
                      </a:r>
                      <a:r>
                        <a:rPr lang="en-US" sz="1100" u="none" strike="noStrike" dirty="0" smtClean="0">
                          <a:effectLst/>
                        </a:rPr>
                        <a:t>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优化后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MB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&gt;60MB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643050"/>
            <a:ext cx="6500858" cy="800219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</a:p>
          <a:p>
            <a:r>
              <a:rPr lang="en-US" altLang="zh-CN" sz="1400" dirty="0" err="1" smtClean="0">
                <a:latin typeface="+mj-ea"/>
                <a:ea typeface="+mj-ea"/>
              </a:rPr>
              <a:t>Scaleform</a:t>
            </a:r>
            <a:r>
              <a:rPr lang="zh-CN" altLang="en-US" sz="1400" dirty="0" smtClean="0">
                <a:latin typeface="+mj-ea"/>
                <a:ea typeface="+mj-ea"/>
              </a:rPr>
              <a:t>虚拟机内部分配的对象占用了很大一部分内存，</a:t>
            </a:r>
            <a:r>
              <a:rPr lang="zh-CN" altLang="en-US" sz="1400" dirty="0">
                <a:latin typeface="+mj-ea"/>
              </a:rPr>
              <a:t>可能是对包的引用组织</a:t>
            </a:r>
            <a:r>
              <a:rPr lang="zh-CN" altLang="en-US" sz="1400" dirty="0" smtClean="0">
                <a:latin typeface="+mj-ea"/>
              </a:rPr>
              <a:t>方式</a:t>
            </a:r>
            <a:r>
              <a:rPr lang="zh-CN" altLang="en-US" sz="1400" dirty="0" smtClean="0">
                <a:latin typeface="+mj-ea"/>
                <a:ea typeface="+mj-ea"/>
              </a:rPr>
              <a:t>使用不恰当，还需要进一步分析。</a:t>
            </a:r>
            <a:endParaRPr lang="en-US" sz="1400" dirty="0">
              <a:latin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728" y="3143248"/>
            <a:ext cx="6643734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确认开销原因后针对优化。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 smtClean="0">
                <a:latin typeface="+mj-ea"/>
              </a:rPr>
              <a:t>特效材质</a:t>
            </a:r>
            <a:endParaRPr lang="en-US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857488" y="4286256"/>
          <a:ext cx="3357588" cy="6429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9196"/>
                <a:gridCol w="1119196"/>
                <a:gridCol w="1119196"/>
              </a:tblGrid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优化前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(M</a:t>
                      </a:r>
                      <a:r>
                        <a:rPr lang="en-US" sz="1100" u="none" strike="noStrike" dirty="0" smtClean="0">
                          <a:effectLst/>
                        </a:rPr>
                        <a:t>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优化后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MB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21471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&gt;30MB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643050"/>
            <a:ext cx="6500858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</a:p>
          <a:p>
            <a:r>
              <a:rPr lang="zh-CN" altLang="en-US" sz="1400" dirty="0" smtClean="0">
                <a:latin typeface="+mj-ea"/>
                <a:ea typeface="+mj-ea"/>
              </a:rPr>
              <a:t>特效材质现在并未采用材质模板，造成大量材质缓存浪费。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28" y="3143248"/>
            <a:ext cx="6643734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采用材质模板和材质实例。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dirty="0" smtClean="0">
                <a:latin typeface="+mj-ea"/>
              </a:rPr>
              <a:t>动画资源</a:t>
            </a:r>
            <a:endParaRPr lang="en-US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857488" y="4286256"/>
          <a:ext cx="3357588" cy="6429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9196"/>
                <a:gridCol w="1119196"/>
                <a:gridCol w="1119196"/>
              </a:tblGrid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优化前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(M</a:t>
                      </a:r>
                      <a:r>
                        <a:rPr lang="en-US" sz="1100" u="none" strike="noStrike" dirty="0" smtClean="0">
                          <a:effectLst/>
                        </a:rPr>
                        <a:t>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优化后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(</a:t>
                      </a:r>
                      <a:r>
                        <a:rPr lang="en-US" sz="1100" u="none" strike="noStrike" dirty="0" smtClean="0">
                          <a:effectLst/>
                        </a:rPr>
                        <a:t>MB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节省内存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MB)</a:t>
                      </a:r>
                      <a:endParaRPr lang="en-US" sz="1100" b="0" i="0" u="none" strike="noStrike" dirty="0">
                        <a:solidFill>
                          <a:srgbClr val="C0C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21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/>
                        </a:rPr>
                        <a:t>预估：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&gt;40MB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28728" y="1643050"/>
            <a:ext cx="6500858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问题分析：</a:t>
            </a:r>
          </a:p>
          <a:p>
            <a:r>
              <a:rPr lang="zh-CN" altLang="en-US" sz="1400" dirty="0" smtClean="0">
                <a:latin typeface="+mj-ea"/>
                <a:ea typeface="+mj-ea"/>
              </a:rPr>
              <a:t>动画资源目前并未很好压缩优化存储。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28" y="3143248"/>
            <a:ext cx="6643734" cy="584775"/>
          </a:xfrm>
          <a:prstGeom prst="rect">
            <a:avLst/>
          </a:prstGeom>
          <a:noFill/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优化方式：</a:t>
            </a:r>
            <a:endParaRPr lang="en-US" altLang="zh-CN" b="1" dirty="0" smtClean="0">
              <a:latin typeface="+mj-ea"/>
              <a:ea typeface="+mj-ea"/>
            </a:endParaRPr>
          </a:p>
          <a:p>
            <a:r>
              <a:rPr lang="zh-CN" altLang="en-US" sz="1400" dirty="0" smtClean="0">
                <a:latin typeface="+mj-ea"/>
                <a:ea typeface="+mj-ea"/>
              </a:rPr>
              <a:t>压缩动画资源。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C0C0C0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2966</TotalTime>
  <Words>909</Words>
  <Application>Microsoft Office PowerPoint</Application>
  <PresentationFormat>全屏显示(4:3)</PresentationFormat>
  <Paragraphs>148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龙腾四海</vt:lpstr>
      <vt:lpstr>内存占用分析及优化</vt:lpstr>
      <vt:lpstr>内存占用计算</vt:lpstr>
      <vt:lpstr>音频</vt:lpstr>
      <vt:lpstr>重复UI贴图</vt:lpstr>
      <vt:lpstr>内存分配器</vt:lpstr>
      <vt:lpstr>配置数据加载</vt:lpstr>
      <vt:lpstr>UI贴图拼接</vt:lpstr>
      <vt:lpstr>Scaleform系统开销</vt:lpstr>
      <vt:lpstr>特效材质</vt:lpstr>
      <vt:lpstr>动画资源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内存占用分析及优化</dc:title>
  <dc:creator>陈旺.oscarken</dc:creator>
  <cp:lastModifiedBy>陈旺.oscarken</cp:lastModifiedBy>
  <cp:revision>140</cp:revision>
  <dcterms:created xsi:type="dcterms:W3CDTF">2013-07-11T05:58:06Z</dcterms:created>
  <dcterms:modified xsi:type="dcterms:W3CDTF">2013-07-15T02:18:35Z</dcterms:modified>
</cp:coreProperties>
</file>