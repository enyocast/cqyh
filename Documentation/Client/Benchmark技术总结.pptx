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  <p:sldId id="281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28" d="100"/>
          <a:sy n="128" d="100"/>
        </p:scale>
        <p:origin x="-94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A8CDFA-5AA0-442D-B365-CB27F1B62CE7}" type="datetimeFigureOut">
              <a:rPr lang="zh-CN" altLang="en-US" smtClean="0"/>
              <a:pPr/>
              <a:t>2013/5/15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F8CBD2-5224-462D-B042-9EBA7A6C8B6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Terrain</a:t>
            </a:r>
            <a:r>
              <a:rPr lang="en-US" altLang="zh-CN" baseline="0" dirty="0" smtClean="0"/>
              <a:t> tessellation off</a:t>
            </a:r>
            <a:r>
              <a:rPr lang="zh-CN" altLang="en-US" baseline="0" dirty="0" smtClean="0"/>
              <a:t>的状态，地表高低难以真实表现。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F8CBD2-5224-462D-B042-9EBA7A6C8B61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打开</a:t>
            </a:r>
            <a:r>
              <a:rPr lang="en-US" altLang="zh-CN" dirty="0" smtClean="0"/>
              <a:t>tessellation</a:t>
            </a:r>
            <a:r>
              <a:rPr lang="zh-CN" altLang="en-US" dirty="0" smtClean="0"/>
              <a:t>之后的状态，可见地形产生了非常真实的凹凸感觉。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F8CBD2-5224-462D-B042-9EBA7A6C8B61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在线框模式下可以看到，打开</a:t>
            </a:r>
            <a:r>
              <a:rPr lang="en-US" altLang="zh-CN" dirty="0" smtClean="0"/>
              <a:t>tessellation</a:t>
            </a:r>
            <a:r>
              <a:rPr lang="zh-CN" altLang="en-US" dirty="0" smtClean="0"/>
              <a:t>之后由原先低精度的模型数据产生了大量新的三角面数据，并产生了高低起伏的真实效果。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F8CBD2-5224-462D-B042-9EBA7A6C8B61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无</a:t>
            </a:r>
            <a:r>
              <a:rPr lang="en-US" altLang="zh-CN" dirty="0" smtClean="0"/>
              <a:t>tessellation</a:t>
            </a:r>
            <a:r>
              <a:rPr lang="zh-CN" altLang="en-US" dirty="0" smtClean="0"/>
              <a:t>的海水，精度低，可见明显接缝，无法实现较大的波浪效果。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F8CBD2-5224-462D-B042-9EBA7A6C8B61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打开</a:t>
            </a:r>
            <a:r>
              <a:rPr lang="en-US" altLang="zh-CN" dirty="0" smtClean="0"/>
              <a:t>tessellation</a:t>
            </a:r>
            <a:r>
              <a:rPr lang="zh-CN" altLang="en-US" dirty="0" smtClean="0"/>
              <a:t>之后的海水效果，因为有大量顶点，所以能够实现高精度的高低起伏水面效果。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F8CBD2-5224-462D-B042-9EBA7A6C8B61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低精度的原始模型在</a:t>
            </a:r>
            <a:r>
              <a:rPr lang="en-US" altLang="zh-CN" dirty="0" smtClean="0"/>
              <a:t>tessellation</a:t>
            </a:r>
            <a:r>
              <a:rPr lang="zh-CN" altLang="en-US" dirty="0" smtClean="0"/>
              <a:t>的作用下产生了大量新顶点，极大提高了模型精度，从而使得顶点波动更为真实。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F8CBD2-5224-462D-B042-9EBA7A6C8B61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原始模型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F8CBD2-5224-462D-B042-9EBA7A6C8B61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通过材质控制，原始模型身上开始长出冰柱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F8CBD2-5224-462D-B042-9EBA7A6C8B61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冰柱长得更高，模型形态发生巨大改变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F8CBD2-5224-462D-B042-9EBA7A6C8B61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模型腿部的冰柱生长示例。经由材质控制使模型从原始形态无缝变化成新形态。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F8CBD2-5224-462D-B042-9EBA7A6C8B61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画面效果平淡，凹凸部分没有明暗表现。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F8CBD2-5224-462D-B042-9EBA7A6C8B61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明暗对比加强，画面更为真实。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F8CBD2-5224-462D-B042-9EBA7A6C8B61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通过对画面进行计算得到的阴影细节。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F8CBD2-5224-462D-B042-9EBA7A6C8B61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err="1" smtClean="0"/>
              <a:t>BokehDOF</a:t>
            </a:r>
            <a:r>
              <a:rPr lang="zh-CN" altLang="en-US" dirty="0" smtClean="0"/>
              <a:t>产生的圆形光斑，非常适合用来表现夜景灯光。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F8CBD2-5224-462D-B042-9EBA7A6C8B61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使用</a:t>
            </a:r>
            <a:r>
              <a:rPr lang="en-US" altLang="zh-CN" dirty="0" smtClean="0"/>
              <a:t>Turbulence</a:t>
            </a:r>
            <a:r>
              <a:rPr lang="zh-CN" altLang="en-US" dirty="0" smtClean="0"/>
              <a:t>产生的雪花纷飞效果。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F8CBD2-5224-462D-B042-9EBA7A6C8B61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由粒子系统产生的蓝色粒子球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F8CBD2-5224-462D-B042-9EBA7A6C8B61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由粒子系统产生的蓝色粒子球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F8CBD2-5224-462D-B042-9EBA7A6C8B61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由粒子系统产生的蓝色粒子球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F8CBD2-5224-462D-B042-9EBA7A6C8B61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由粒子系统产生的蓝色粒子球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F8CBD2-5224-462D-B042-9EBA7A6C8B61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由粒子系统产生的蓝色粒子球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F8CBD2-5224-462D-B042-9EBA7A6C8B61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A5CD-1AA6-4431-8E51-4F4096539005}" type="datetimeFigureOut">
              <a:rPr lang="zh-CN" altLang="en-US" smtClean="0"/>
              <a:pPr/>
              <a:t>2013/5/15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4BA17-03C9-4096-9B8B-A6EB0AE915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A5CD-1AA6-4431-8E51-4F4096539005}" type="datetimeFigureOut">
              <a:rPr lang="zh-CN" altLang="en-US" smtClean="0"/>
              <a:pPr/>
              <a:t>2013/5/15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4BA17-03C9-4096-9B8B-A6EB0AE915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A5CD-1AA6-4431-8E51-4F4096539005}" type="datetimeFigureOut">
              <a:rPr lang="zh-CN" altLang="en-US" smtClean="0"/>
              <a:pPr/>
              <a:t>2013/5/15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4BA17-03C9-4096-9B8B-A6EB0AE915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A5CD-1AA6-4431-8E51-4F4096539005}" type="datetimeFigureOut">
              <a:rPr lang="zh-CN" altLang="en-US" smtClean="0"/>
              <a:pPr/>
              <a:t>2013/5/15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4BA17-03C9-4096-9B8B-A6EB0AE915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A5CD-1AA6-4431-8E51-4F4096539005}" type="datetimeFigureOut">
              <a:rPr lang="zh-CN" altLang="en-US" smtClean="0"/>
              <a:pPr/>
              <a:t>2013/5/15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4BA17-03C9-4096-9B8B-A6EB0AE915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A5CD-1AA6-4431-8E51-4F4096539005}" type="datetimeFigureOut">
              <a:rPr lang="zh-CN" altLang="en-US" smtClean="0"/>
              <a:pPr/>
              <a:t>2013/5/15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4BA17-03C9-4096-9B8B-A6EB0AE915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A5CD-1AA6-4431-8E51-4F4096539005}" type="datetimeFigureOut">
              <a:rPr lang="zh-CN" altLang="en-US" smtClean="0"/>
              <a:pPr/>
              <a:t>2013/5/15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4BA17-03C9-4096-9B8B-A6EB0AE915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A5CD-1AA6-4431-8E51-4F4096539005}" type="datetimeFigureOut">
              <a:rPr lang="zh-CN" altLang="en-US" smtClean="0"/>
              <a:pPr/>
              <a:t>2013/5/15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4BA17-03C9-4096-9B8B-A6EB0AE915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A5CD-1AA6-4431-8E51-4F4096539005}" type="datetimeFigureOut">
              <a:rPr lang="zh-CN" altLang="en-US" smtClean="0"/>
              <a:pPr/>
              <a:t>2013/5/15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4BA17-03C9-4096-9B8B-A6EB0AE915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A5CD-1AA6-4431-8E51-4F4096539005}" type="datetimeFigureOut">
              <a:rPr lang="zh-CN" altLang="en-US" smtClean="0"/>
              <a:pPr/>
              <a:t>2013/5/15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4BA17-03C9-4096-9B8B-A6EB0AE915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A5CD-1AA6-4431-8E51-4F4096539005}" type="datetimeFigureOut">
              <a:rPr lang="zh-CN" altLang="en-US" smtClean="0"/>
              <a:pPr/>
              <a:t>2013/5/15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4BA17-03C9-4096-9B8B-A6EB0AE915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FA5CD-1AA6-4431-8E51-4F4096539005}" type="datetimeFigureOut">
              <a:rPr lang="zh-CN" altLang="en-US" smtClean="0"/>
              <a:pPr/>
              <a:t>2013/5/15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4BA17-03C9-4096-9B8B-A6EB0AE915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Benchmark</a:t>
            </a:r>
            <a:r>
              <a:rPr lang="zh-CN" altLang="en-US" dirty="0" smtClean="0"/>
              <a:t>技术总结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z</a:t>
            </a:r>
            <a:r>
              <a:rPr lang="en-US" altLang="zh-CN" dirty="0" smtClean="0"/>
              <a:t>huming.suker@snda.com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Tessellation</a:t>
            </a:r>
            <a:r>
              <a:rPr lang="zh-CN" altLang="en-US" dirty="0" smtClean="0"/>
              <a:t>的应用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基于</a:t>
            </a:r>
            <a:r>
              <a:rPr lang="en-US" altLang="zh-CN" dirty="0" smtClean="0"/>
              <a:t>DirectX11</a:t>
            </a:r>
            <a:r>
              <a:rPr lang="zh-CN" altLang="en-US" dirty="0" smtClean="0"/>
              <a:t>的</a:t>
            </a:r>
            <a:r>
              <a:rPr lang="en-US" altLang="zh-CN" dirty="0" smtClean="0"/>
              <a:t>tessellation</a:t>
            </a:r>
            <a:r>
              <a:rPr lang="zh-CN" altLang="en-US" dirty="0" smtClean="0"/>
              <a:t>技术，可以在硬件层次生成大量顶点数据，结合</a:t>
            </a:r>
            <a:r>
              <a:rPr lang="en-US" altLang="zh-CN" dirty="0" smtClean="0"/>
              <a:t>displacement map</a:t>
            </a:r>
            <a:r>
              <a:rPr lang="zh-CN" altLang="en-US" dirty="0" smtClean="0"/>
              <a:t>实现高精度模型。</a:t>
            </a:r>
            <a:endParaRPr lang="en-US" altLang="zh-CN" dirty="0" smtClean="0"/>
          </a:p>
          <a:p>
            <a:r>
              <a:rPr lang="zh-CN" altLang="en-US" dirty="0" smtClean="0"/>
              <a:t>适合应用的领域</a:t>
            </a:r>
            <a:endParaRPr lang="en-US" altLang="zh-CN" dirty="0" smtClean="0"/>
          </a:p>
          <a:p>
            <a:pPr lvl="1"/>
            <a:r>
              <a:rPr lang="zh-CN" altLang="en-US" dirty="0"/>
              <a:t>地形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海水</a:t>
            </a:r>
            <a:endParaRPr lang="en-US" altLang="zh-CN" dirty="0" smtClean="0"/>
          </a:p>
          <a:p>
            <a:pPr lvl="1"/>
            <a:r>
              <a:rPr lang="zh-CN" altLang="en-US" dirty="0"/>
              <a:t>大</a:t>
            </a:r>
            <a:r>
              <a:rPr lang="zh-CN" altLang="en-US" dirty="0" smtClean="0"/>
              <a:t>体积模型（如</a:t>
            </a:r>
            <a:r>
              <a:rPr lang="en-US" altLang="zh-CN" dirty="0" smtClean="0"/>
              <a:t>boss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/>
              <a:t>需要</a:t>
            </a:r>
            <a:r>
              <a:rPr lang="zh-CN" altLang="en-US" dirty="0" smtClean="0"/>
              <a:t>动态改变凹凸外观的模型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地形</a:t>
            </a:r>
            <a:r>
              <a:rPr lang="en-US" altLang="zh-CN" dirty="0" smtClean="0"/>
              <a:t>tessellation</a:t>
            </a:r>
            <a:r>
              <a:rPr lang="zh-CN" altLang="en-US" dirty="0" smtClean="0"/>
              <a:t>（关闭）</a:t>
            </a:r>
            <a:endParaRPr lang="zh-CN" altLang="en-US" dirty="0"/>
          </a:p>
        </p:txBody>
      </p:sp>
      <p:pic>
        <p:nvPicPr>
          <p:cNvPr id="4" name="内容占位符 3" descr="LS_TessOff_C1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068150" y="1600200"/>
            <a:ext cx="7007700" cy="45259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地形</a:t>
            </a:r>
            <a:r>
              <a:rPr lang="en-US" altLang="zh-CN" dirty="0" smtClean="0"/>
              <a:t>tessellation</a:t>
            </a:r>
            <a:r>
              <a:rPr lang="zh-CN" altLang="en-US" dirty="0" smtClean="0"/>
              <a:t>（打开）</a:t>
            </a:r>
            <a:endParaRPr lang="zh-CN" altLang="en-US" dirty="0"/>
          </a:p>
        </p:txBody>
      </p:sp>
      <p:pic>
        <p:nvPicPr>
          <p:cNvPr id="4" name="内容占位符 3" descr="LS_TessOn_C1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068150" y="1600200"/>
            <a:ext cx="7007700" cy="45259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地形</a:t>
            </a:r>
            <a:r>
              <a:rPr lang="en-US" altLang="zh-CN" dirty="0" smtClean="0"/>
              <a:t>tessellation</a:t>
            </a:r>
            <a:r>
              <a:rPr lang="zh-CN" altLang="en-US" dirty="0" smtClean="0"/>
              <a:t>比较</a:t>
            </a:r>
            <a:endParaRPr lang="zh-CN" altLang="en-US" dirty="0"/>
          </a:p>
        </p:txBody>
      </p:sp>
      <p:pic>
        <p:nvPicPr>
          <p:cNvPr id="4" name="内容占位符 3" descr="LS_TessOff_1.png"/>
          <p:cNvPicPr>
            <a:picLocks noGrp="1" noChangeAspect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457200" y="2559005"/>
            <a:ext cx="4038600" cy="2608353"/>
          </a:xfrm>
        </p:spPr>
      </p:pic>
      <p:pic>
        <p:nvPicPr>
          <p:cNvPr id="9" name="内容占位符 8" descr="LS_TessOn_1.png"/>
          <p:cNvPicPr>
            <a:picLocks noGrp="1" noChangeAspect="1"/>
          </p:cNvPicPr>
          <p:nvPr>
            <p:ph sz="half" idx="2"/>
          </p:nvPr>
        </p:nvPicPr>
        <p:blipFill>
          <a:blip r:embed="rId4" cstate="print"/>
          <a:stretch>
            <a:fillRect/>
          </a:stretch>
        </p:blipFill>
        <p:spPr>
          <a:xfrm>
            <a:off x="4648200" y="2559005"/>
            <a:ext cx="4038600" cy="260835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海水</a:t>
            </a:r>
            <a:r>
              <a:rPr lang="en-US" altLang="zh-CN" dirty="0" smtClean="0"/>
              <a:t>tessellation</a:t>
            </a:r>
            <a:r>
              <a:rPr lang="zh-CN" altLang="en-US" dirty="0" smtClean="0"/>
              <a:t>（关闭）</a:t>
            </a:r>
            <a:endParaRPr lang="zh-CN" altLang="en-US" dirty="0"/>
          </a:p>
        </p:txBody>
      </p:sp>
      <p:pic>
        <p:nvPicPr>
          <p:cNvPr id="6" name="内容占位符 5" descr="Water_TessOff_C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068150" y="1600200"/>
            <a:ext cx="7007700" cy="45259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海水</a:t>
            </a:r>
            <a:r>
              <a:rPr lang="en-US" altLang="zh-CN" dirty="0" smtClean="0"/>
              <a:t>tessellation</a:t>
            </a:r>
            <a:r>
              <a:rPr lang="zh-CN" altLang="en-US" dirty="0" smtClean="0"/>
              <a:t>（打开）</a:t>
            </a:r>
            <a:endParaRPr lang="zh-CN" altLang="en-US" dirty="0"/>
          </a:p>
        </p:txBody>
      </p:sp>
      <p:pic>
        <p:nvPicPr>
          <p:cNvPr id="4" name="内容占位符 3" descr="Water_TessOn_C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068150" y="1600200"/>
            <a:ext cx="7007700" cy="45259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海水</a:t>
            </a:r>
            <a:r>
              <a:rPr lang="en-US" altLang="zh-CN" dirty="0" smtClean="0"/>
              <a:t>tessellation</a:t>
            </a:r>
            <a:r>
              <a:rPr lang="zh-CN" altLang="en-US" dirty="0" smtClean="0"/>
              <a:t>比较</a:t>
            </a:r>
            <a:endParaRPr lang="zh-CN" altLang="en-US" dirty="0"/>
          </a:p>
        </p:txBody>
      </p:sp>
      <p:pic>
        <p:nvPicPr>
          <p:cNvPr id="10" name="内容占位符 9" descr="Water_TessOff.png"/>
          <p:cNvPicPr>
            <a:picLocks noGrp="1" noChangeAspect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457200" y="2559005"/>
            <a:ext cx="4038600" cy="2608353"/>
          </a:xfrm>
        </p:spPr>
      </p:pic>
      <p:pic>
        <p:nvPicPr>
          <p:cNvPr id="11" name="内容占位符 10" descr="Water_TessOn.png"/>
          <p:cNvPicPr>
            <a:picLocks noGrp="1" noChangeAspect="1"/>
          </p:cNvPicPr>
          <p:nvPr>
            <p:ph sz="half" idx="2"/>
          </p:nvPr>
        </p:nvPicPr>
        <p:blipFill>
          <a:blip r:embed="rId4" cstate="print"/>
          <a:stretch>
            <a:fillRect/>
          </a:stretch>
        </p:blipFill>
        <p:spPr>
          <a:xfrm>
            <a:off x="4648200" y="2559005"/>
            <a:ext cx="4038600" cy="260835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Tessellation</a:t>
            </a:r>
            <a:r>
              <a:rPr lang="zh-CN" altLang="en-US" dirty="0" smtClean="0"/>
              <a:t>动态变化</a:t>
            </a:r>
            <a:r>
              <a:rPr lang="en-US" altLang="zh-CN" dirty="0"/>
              <a:t> 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pic>
        <p:nvPicPr>
          <p:cNvPr id="7" name="内容占位符 6" descr="Skel_Tess0_C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068150" y="1600200"/>
            <a:ext cx="7007700" cy="45259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Tessellation</a:t>
            </a:r>
            <a:r>
              <a:rPr lang="zh-CN" altLang="en-US" dirty="0" smtClean="0"/>
              <a:t>动态变化 </a:t>
            </a:r>
            <a:r>
              <a:rPr lang="en-US" altLang="zh-CN" dirty="0" smtClean="0"/>
              <a:t>2</a:t>
            </a:r>
            <a:endParaRPr lang="zh-CN" altLang="en-US" dirty="0"/>
          </a:p>
        </p:txBody>
      </p:sp>
      <p:pic>
        <p:nvPicPr>
          <p:cNvPr id="4" name="内容占位符 3" descr="Skel_Tess1_C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068150" y="1600200"/>
            <a:ext cx="7007700" cy="45259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Tessellation</a:t>
            </a:r>
            <a:r>
              <a:rPr lang="zh-CN" altLang="en-US" dirty="0" smtClean="0"/>
              <a:t>动态变化 </a:t>
            </a:r>
            <a:r>
              <a:rPr lang="en-US" altLang="zh-CN" dirty="0" smtClean="0"/>
              <a:t>3</a:t>
            </a:r>
            <a:endParaRPr lang="zh-CN" altLang="en-US" dirty="0"/>
          </a:p>
        </p:txBody>
      </p:sp>
      <p:pic>
        <p:nvPicPr>
          <p:cNvPr id="4" name="内容占位符 3" descr="Skel_Tess2_C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068150" y="1600200"/>
            <a:ext cx="7007700" cy="45259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模型局部变化</a:t>
            </a:r>
            <a:endParaRPr lang="zh-CN" altLang="en-US" dirty="0"/>
          </a:p>
        </p:txBody>
      </p:sp>
      <p:pic>
        <p:nvPicPr>
          <p:cNvPr id="6" name="内容占位符 5" descr="Skel_Tess0.png"/>
          <p:cNvPicPr>
            <a:picLocks noGrp="1" noChangeAspect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457200" y="2559005"/>
            <a:ext cx="4038600" cy="2608353"/>
          </a:xfrm>
        </p:spPr>
      </p:pic>
      <p:pic>
        <p:nvPicPr>
          <p:cNvPr id="7" name="内容占位符 6" descr="Skel_Tess2.png"/>
          <p:cNvPicPr>
            <a:picLocks noGrp="1" noChangeAspect="1"/>
          </p:cNvPicPr>
          <p:nvPr>
            <p:ph sz="half" idx="2"/>
          </p:nvPr>
        </p:nvPicPr>
        <p:blipFill>
          <a:blip r:embed="rId4" cstate="print"/>
          <a:stretch>
            <a:fillRect/>
          </a:stretch>
        </p:blipFill>
        <p:spPr>
          <a:xfrm>
            <a:off x="4648200" y="2559005"/>
            <a:ext cx="4038600" cy="260835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HBAO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水平环境光遮罩效果，作为</a:t>
            </a:r>
            <a:r>
              <a:rPr lang="en-US" altLang="zh-CN" dirty="0" smtClean="0"/>
              <a:t>SSAO</a:t>
            </a:r>
            <a:r>
              <a:rPr lang="zh-CN" altLang="en-US" dirty="0" smtClean="0"/>
              <a:t>的改进版本，提供更为真实的光影效果。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HBAO</a:t>
            </a:r>
            <a:r>
              <a:rPr lang="zh-CN" altLang="en-US" dirty="0" smtClean="0"/>
              <a:t>（关闭）</a:t>
            </a:r>
            <a:endParaRPr lang="zh-CN" altLang="en-US" dirty="0"/>
          </a:p>
        </p:txBody>
      </p:sp>
      <p:pic>
        <p:nvPicPr>
          <p:cNvPr id="7" name="内容占位符 6" descr="HBAOOff.pn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02839" y="1600200"/>
            <a:ext cx="7738322" cy="45259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HBAO</a:t>
            </a:r>
            <a:r>
              <a:rPr lang="zh-CN" altLang="en-US" dirty="0" smtClean="0"/>
              <a:t>（打开）</a:t>
            </a:r>
            <a:endParaRPr lang="zh-CN" altLang="en-US" dirty="0"/>
          </a:p>
        </p:txBody>
      </p:sp>
      <p:pic>
        <p:nvPicPr>
          <p:cNvPr id="4" name="内容占位符 3" descr="HBAOOn.pn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02839" y="1600200"/>
            <a:ext cx="7738322" cy="45259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HBAO</a:t>
            </a:r>
            <a:r>
              <a:rPr lang="zh-CN" altLang="en-US" dirty="0" smtClean="0"/>
              <a:t>（计算过程）</a:t>
            </a:r>
            <a:endParaRPr lang="zh-CN" altLang="en-US" dirty="0"/>
          </a:p>
        </p:txBody>
      </p:sp>
      <p:pic>
        <p:nvPicPr>
          <p:cNvPr id="4" name="内容占位符 3" descr="HBAOOnly.pn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02839" y="1600200"/>
            <a:ext cx="7738322" cy="45259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BokehDOF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模拟镜头焦外成像的模糊效果</a:t>
            </a:r>
            <a:endParaRPr lang="en-US" altLang="zh-CN" dirty="0" smtClean="0"/>
          </a:p>
          <a:p>
            <a:r>
              <a:rPr lang="zh-CN" altLang="en-US" dirty="0" smtClean="0"/>
              <a:t>适合表现夜景、灯光、光斑等效果</a:t>
            </a:r>
            <a:endParaRPr lang="en-US" altLang="zh-CN" dirty="0" smtClean="0"/>
          </a:p>
          <a:p>
            <a:r>
              <a:rPr lang="zh-CN" altLang="en-US" dirty="0" smtClean="0"/>
              <a:t>可通过改变贴图的方式产生不同的形状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No DOF</a:t>
            </a:r>
            <a:endParaRPr lang="zh-CN" altLang="en-US" dirty="0"/>
          </a:p>
        </p:txBody>
      </p:sp>
      <p:pic>
        <p:nvPicPr>
          <p:cNvPr id="4" name="内容占位符 3" descr="bokeh_off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68150" y="1600200"/>
            <a:ext cx="7007700" cy="45259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开启</a:t>
            </a:r>
            <a:r>
              <a:rPr lang="en-US" altLang="zh-CN" dirty="0" err="1" smtClean="0"/>
              <a:t>BokehDOF</a:t>
            </a:r>
            <a:endParaRPr lang="zh-CN" altLang="en-US" dirty="0"/>
          </a:p>
        </p:txBody>
      </p:sp>
      <p:pic>
        <p:nvPicPr>
          <p:cNvPr id="4" name="内容占位符 3" descr="bokeh_on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68150" y="1600200"/>
            <a:ext cx="7007700" cy="45259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No DOF</a:t>
            </a:r>
            <a:endParaRPr lang="zh-CN" altLang="en-US" dirty="0"/>
          </a:p>
        </p:txBody>
      </p:sp>
      <p:pic>
        <p:nvPicPr>
          <p:cNvPr id="4" name="内容占位符 3" descr="NoDOF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68150" y="1600200"/>
            <a:ext cx="7007700" cy="45259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Simple DOF</a:t>
            </a:r>
            <a:endParaRPr lang="zh-CN" altLang="en-US" dirty="0"/>
          </a:p>
        </p:txBody>
      </p:sp>
      <p:pic>
        <p:nvPicPr>
          <p:cNvPr id="4" name="内容占位符 3" descr="SimpleDOF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68150" y="1600200"/>
            <a:ext cx="7007700" cy="45259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BokehDOF</a:t>
            </a:r>
            <a:endParaRPr lang="zh-CN" altLang="en-US" dirty="0"/>
          </a:p>
        </p:txBody>
      </p:sp>
      <p:pic>
        <p:nvPicPr>
          <p:cNvPr id="4" name="内容占位符 3" descr="Bokeh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068150" y="1600200"/>
            <a:ext cx="7007700" cy="45259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全屏粒子特效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基于</a:t>
            </a:r>
            <a:r>
              <a:rPr lang="en-US" altLang="zh-CN" dirty="0" smtClean="0"/>
              <a:t>Vertex </a:t>
            </a:r>
            <a:r>
              <a:rPr lang="en-US" altLang="zh-CN" dirty="0" err="1" smtClean="0"/>
              <a:t>Shader</a:t>
            </a:r>
            <a:r>
              <a:rPr lang="zh-CN" altLang="en-US" dirty="0" smtClean="0"/>
              <a:t>实现的高效渲染特效系统，用以支持全屏雨、雪等效果。</a:t>
            </a:r>
            <a:endParaRPr lang="en-US" altLang="zh-CN" dirty="0" smtClean="0"/>
          </a:p>
          <a:p>
            <a:r>
              <a:rPr lang="zh-CN" altLang="en-US" dirty="0" smtClean="0"/>
              <a:t>主要优势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渲染效率远高于</a:t>
            </a:r>
            <a:r>
              <a:rPr lang="en-US" altLang="zh-CN" dirty="0" smtClean="0"/>
              <a:t>UE</a:t>
            </a:r>
            <a:r>
              <a:rPr lang="zh-CN" altLang="en-US" dirty="0" smtClean="0"/>
              <a:t>原生特效系统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方便配置，一个场景只需一个</a:t>
            </a:r>
            <a:r>
              <a:rPr lang="en-US" altLang="zh-CN" dirty="0" smtClean="0"/>
              <a:t>Emitter</a:t>
            </a:r>
          </a:p>
          <a:p>
            <a:pPr lvl="1"/>
            <a:r>
              <a:rPr lang="zh-CN" altLang="en-US" dirty="0" smtClean="0"/>
              <a:t>可使用</a:t>
            </a:r>
            <a:r>
              <a:rPr lang="en-US" altLang="zh-CN" dirty="0" smtClean="0"/>
              <a:t>UE</a:t>
            </a:r>
            <a:r>
              <a:rPr lang="zh-CN" altLang="en-US" dirty="0" smtClean="0"/>
              <a:t>粒子系统原有功能，易于编辑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全屏雪</a:t>
            </a:r>
            <a:endParaRPr lang="zh-CN" altLang="en-US" dirty="0"/>
          </a:p>
        </p:txBody>
      </p:sp>
      <p:pic>
        <p:nvPicPr>
          <p:cNvPr id="12" name="内容占位符 11" descr="Snow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68150" y="1600200"/>
            <a:ext cx="7007700" cy="45259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全屏雨</a:t>
            </a:r>
            <a:endParaRPr lang="zh-CN" altLang="en-US" dirty="0"/>
          </a:p>
        </p:txBody>
      </p:sp>
      <p:pic>
        <p:nvPicPr>
          <p:cNvPr id="4" name="内容占位符 3" descr="Rain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68150" y="1600200"/>
            <a:ext cx="7007700" cy="45259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布料模拟</a:t>
            </a:r>
            <a:endParaRPr lang="zh-CN" altLang="en-US" dirty="0"/>
          </a:p>
        </p:txBody>
      </p:sp>
      <p:pic>
        <p:nvPicPr>
          <p:cNvPr id="7" name="内容占位符 6" descr="Clothes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804" y="1714488"/>
            <a:ext cx="8229600" cy="3175000"/>
          </a:xfrm>
        </p:spPr>
      </p:pic>
      <p:sp>
        <p:nvSpPr>
          <p:cNvPr id="9" name="TextBox 8"/>
          <p:cNvSpPr txBox="1"/>
          <p:nvPr/>
        </p:nvSpPr>
        <p:spPr>
          <a:xfrm>
            <a:off x="1714480" y="5286388"/>
            <a:ext cx="58993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采用</a:t>
            </a:r>
            <a:r>
              <a:rPr lang="en-US" altLang="zh-CN" dirty="0" err="1" smtClean="0"/>
              <a:t>PhysX</a:t>
            </a:r>
            <a:r>
              <a:rPr lang="en-US" altLang="zh-CN" dirty="0" smtClean="0"/>
              <a:t> Cloth</a:t>
            </a:r>
            <a:r>
              <a:rPr lang="zh-CN" altLang="en-US" dirty="0" smtClean="0"/>
              <a:t>功能方便快速地生成物理布料模拟效果。</a:t>
            </a:r>
            <a:endParaRPr lang="en-US" altLang="zh-CN" dirty="0" smtClean="0"/>
          </a:p>
          <a:p>
            <a:r>
              <a:rPr lang="zh-CN" altLang="en-US" dirty="0" smtClean="0"/>
              <a:t>适合用于小规模的场景布料表现，</a:t>
            </a:r>
            <a:r>
              <a:rPr lang="en-US" altLang="zh-CN" dirty="0" smtClean="0"/>
              <a:t>A</a:t>
            </a:r>
            <a:r>
              <a:rPr lang="zh-CN" altLang="en-US" dirty="0" smtClean="0"/>
              <a:t>卡也通用。</a:t>
            </a:r>
            <a:endParaRPr lang="en-US" altLang="zh-CN" dirty="0" smtClean="0"/>
          </a:p>
          <a:p>
            <a:r>
              <a:rPr lang="zh-CN" altLang="en-US" dirty="0" smtClean="0"/>
              <a:t>另外布料也可以被扯断，可以表现一些极端情况。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物理</a:t>
            </a:r>
            <a:r>
              <a:rPr lang="zh-CN" altLang="en-US" dirty="0" smtClean="0"/>
              <a:t>破坏</a:t>
            </a:r>
            <a:endParaRPr lang="zh-CN" altLang="en-US" dirty="0"/>
          </a:p>
        </p:txBody>
      </p:sp>
      <p:pic>
        <p:nvPicPr>
          <p:cNvPr id="4" name="内容占位符 3" descr="Destruction1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9218" y="1428736"/>
            <a:ext cx="6790368" cy="3971527"/>
          </a:xfrm>
        </p:spPr>
      </p:pic>
      <p:sp>
        <p:nvSpPr>
          <p:cNvPr id="5" name="TextBox 4"/>
          <p:cNvSpPr txBox="1"/>
          <p:nvPr/>
        </p:nvSpPr>
        <p:spPr>
          <a:xfrm>
            <a:off x="1545482" y="5786454"/>
            <a:ext cx="5955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冰块被敲碎的瞬间，随后它们会在物理的作用下落到地面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Apex Turbulence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Apex Turbulence</a:t>
            </a:r>
            <a:r>
              <a:rPr lang="zh-CN" altLang="en-US" dirty="0" smtClean="0"/>
              <a:t>技术提供了高动态性可交互的粒子效果，</a:t>
            </a:r>
            <a:r>
              <a:rPr lang="zh-CN" altLang="en-US" dirty="0" smtClean="0"/>
              <a:t>可用于表现烟雾</a:t>
            </a:r>
            <a:r>
              <a:rPr lang="zh-CN" altLang="en-US" dirty="0" smtClean="0"/>
              <a:t>、</a:t>
            </a:r>
            <a:r>
              <a:rPr lang="zh-CN" altLang="en-US" dirty="0" smtClean="0"/>
              <a:t>流沙</a:t>
            </a:r>
            <a:r>
              <a:rPr lang="zh-CN" altLang="en-US" dirty="0" smtClean="0"/>
              <a:t>、暴风雪等</a:t>
            </a:r>
            <a:r>
              <a:rPr lang="zh-CN" altLang="en-US" dirty="0" smtClean="0"/>
              <a:t>，也可考虑用来表现超自然力效果，如无具体形态</a:t>
            </a:r>
            <a:r>
              <a:rPr lang="zh-CN" altLang="en-US" dirty="0" smtClean="0"/>
              <a:t>的</a:t>
            </a:r>
            <a:r>
              <a:rPr lang="zh-CN" altLang="en-US" dirty="0" smtClean="0"/>
              <a:t>鬼影</a:t>
            </a:r>
            <a:r>
              <a:rPr lang="zh-CN" altLang="en-US" dirty="0" smtClean="0"/>
              <a:t>等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在</a:t>
            </a:r>
            <a:r>
              <a:rPr lang="en-US" altLang="zh-CN" dirty="0" smtClean="0"/>
              <a:t>UE</a:t>
            </a:r>
            <a:r>
              <a:rPr lang="zh-CN" altLang="en-US" dirty="0" smtClean="0"/>
              <a:t>中集成及使用较为方便，基本基于现有粒子系统，亦可方便地在特效编辑器中编辑。</a:t>
            </a:r>
            <a:endParaRPr lang="en-US" altLang="zh-CN" dirty="0" smtClean="0"/>
          </a:p>
          <a:p>
            <a:r>
              <a:rPr lang="zh-CN" altLang="en-US" dirty="0" smtClean="0"/>
              <a:t>目前无法在</a:t>
            </a:r>
            <a:r>
              <a:rPr lang="en-US" altLang="zh-CN" dirty="0" smtClean="0"/>
              <a:t>A</a:t>
            </a:r>
            <a:r>
              <a:rPr lang="zh-CN" altLang="en-US" dirty="0" smtClean="0"/>
              <a:t>卡上使用。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Turbulence</a:t>
            </a:r>
            <a:r>
              <a:rPr lang="zh-CN" altLang="en-US" dirty="0" smtClean="0"/>
              <a:t>雪效果</a:t>
            </a:r>
            <a:endParaRPr lang="zh-CN" altLang="en-US" dirty="0"/>
          </a:p>
        </p:txBody>
      </p:sp>
      <p:pic>
        <p:nvPicPr>
          <p:cNvPr id="4" name="内容占位符 3" descr="turbulence_snow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068150" y="1600200"/>
            <a:ext cx="7007700" cy="45259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Turbulence</a:t>
            </a:r>
            <a:r>
              <a:rPr lang="zh-CN" altLang="en-US" dirty="0" smtClean="0"/>
              <a:t>交互</a:t>
            </a:r>
            <a:r>
              <a:rPr lang="en-US" altLang="zh-CN" dirty="0" smtClean="0"/>
              <a:t>-1</a:t>
            </a:r>
            <a:endParaRPr lang="zh-CN" altLang="en-US" dirty="0"/>
          </a:p>
        </p:txBody>
      </p:sp>
      <p:pic>
        <p:nvPicPr>
          <p:cNvPr id="4" name="内容占位符 3" descr="turbulence_1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857356" y="1600201"/>
            <a:ext cx="5309977" cy="3429479"/>
          </a:xfrm>
        </p:spPr>
      </p:pic>
      <p:sp>
        <p:nvSpPr>
          <p:cNvPr id="7" name="TextBox 6"/>
          <p:cNvSpPr txBox="1"/>
          <p:nvPr/>
        </p:nvSpPr>
        <p:spPr>
          <a:xfrm>
            <a:off x="1545482" y="5500702"/>
            <a:ext cx="5955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由粒子系统产生的蓝色粒子球，引力体（红球）距离较远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Turbulence</a:t>
            </a:r>
            <a:r>
              <a:rPr lang="zh-CN" altLang="en-US" dirty="0" smtClean="0"/>
              <a:t>交互</a:t>
            </a:r>
            <a:r>
              <a:rPr lang="en-US" altLang="zh-CN" dirty="0" smtClean="0"/>
              <a:t>-2</a:t>
            </a:r>
            <a:endParaRPr lang="zh-CN" altLang="en-US" dirty="0"/>
          </a:p>
        </p:txBody>
      </p:sp>
      <p:pic>
        <p:nvPicPr>
          <p:cNvPr id="4" name="内容占位符 3" descr="turbulence_1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857356" y="1600201"/>
            <a:ext cx="5309976" cy="3429479"/>
          </a:xfrm>
        </p:spPr>
      </p:pic>
      <p:sp>
        <p:nvSpPr>
          <p:cNvPr id="7" name="TextBox 6"/>
          <p:cNvSpPr txBox="1"/>
          <p:nvPr/>
        </p:nvSpPr>
        <p:spPr>
          <a:xfrm>
            <a:off x="1545482" y="5500702"/>
            <a:ext cx="6186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引力</a:t>
            </a:r>
            <a:r>
              <a:rPr lang="zh-CN" altLang="en-US" dirty="0" smtClean="0"/>
              <a:t>球靠近的过程中对粒子球产生了吸引，部分粒子被吸出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Turbulence</a:t>
            </a:r>
            <a:r>
              <a:rPr lang="zh-CN" altLang="en-US" dirty="0" smtClean="0"/>
              <a:t>交互</a:t>
            </a:r>
            <a:r>
              <a:rPr lang="en-US" altLang="zh-CN" dirty="0" smtClean="0"/>
              <a:t>-3</a:t>
            </a:r>
            <a:endParaRPr lang="zh-CN" altLang="en-US" dirty="0"/>
          </a:p>
        </p:txBody>
      </p:sp>
      <p:pic>
        <p:nvPicPr>
          <p:cNvPr id="4" name="内容占位符 3" descr="turbulence_1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857356" y="1600201"/>
            <a:ext cx="5309976" cy="3429479"/>
          </a:xfrm>
        </p:spPr>
      </p:pic>
      <p:sp>
        <p:nvSpPr>
          <p:cNvPr id="7" name="TextBox 6"/>
          <p:cNvSpPr txBox="1"/>
          <p:nvPr/>
        </p:nvSpPr>
        <p:spPr>
          <a:xfrm>
            <a:off x="1285852" y="5500702"/>
            <a:ext cx="664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引力</a:t>
            </a:r>
            <a:r>
              <a:rPr lang="zh-CN" altLang="en-US" dirty="0" smtClean="0"/>
              <a:t>球进一步靠近，大量粒子被吸出，在引力球中心形成高光点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Turbulence</a:t>
            </a:r>
            <a:r>
              <a:rPr lang="zh-CN" altLang="en-US" dirty="0" smtClean="0"/>
              <a:t>交互</a:t>
            </a:r>
            <a:r>
              <a:rPr lang="en-US" altLang="zh-CN" dirty="0" smtClean="0"/>
              <a:t>-4</a:t>
            </a:r>
            <a:endParaRPr lang="zh-CN" altLang="en-US" dirty="0"/>
          </a:p>
        </p:txBody>
      </p:sp>
      <p:pic>
        <p:nvPicPr>
          <p:cNvPr id="4" name="内容占位符 3" descr="turbulence_1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857356" y="1600201"/>
            <a:ext cx="5309976" cy="3429479"/>
          </a:xfrm>
        </p:spPr>
      </p:pic>
      <p:sp>
        <p:nvSpPr>
          <p:cNvPr id="7" name="TextBox 6"/>
          <p:cNvSpPr txBox="1"/>
          <p:nvPr/>
        </p:nvSpPr>
        <p:spPr>
          <a:xfrm>
            <a:off x="1428728" y="5500702"/>
            <a:ext cx="664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引力</a:t>
            </a:r>
            <a:r>
              <a:rPr lang="zh-CN" altLang="en-US" dirty="0" smtClean="0"/>
              <a:t>球开始远离，部分粒子开始返回，但仍有大量粒子被吸引住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Turbulence</a:t>
            </a:r>
            <a:r>
              <a:rPr lang="zh-CN" altLang="en-US" dirty="0" smtClean="0"/>
              <a:t>交互</a:t>
            </a:r>
            <a:r>
              <a:rPr lang="en-US" altLang="zh-CN" dirty="0" smtClean="0"/>
              <a:t>-5</a:t>
            </a:r>
            <a:endParaRPr lang="zh-CN" altLang="en-US" dirty="0"/>
          </a:p>
        </p:txBody>
      </p:sp>
      <p:pic>
        <p:nvPicPr>
          <p:cNvPr id="4" name="内容占位符 3" descr="turbulence_1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857356" y="1600201"/>
            <a:ext cx="5309977" cy="3429479"/>
          </a:xfrm>
        </p:spPr>
      </p:pic>
      <p:sp>
        <p:nvSpPr>
          <p:cNvPr id="7" name="TextBox 6"/>
          <p:cNvSpPr txBox="1"/>
          <p:nvPr/>
        </p:nvSpPr>
        <p:spPr>
          <a:xfrm>
            <a:off x="2287534" y="5500702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引力</a:t>
            </a:r>
            <a:r>
              <a:rPr lang="zh-CN" altLang="en-US" dirty="0" smtClean="0"/>
              <a:t>球彻底离开作用区域，粒子球恢复原样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总结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Tessellation</a:t>
            </a:r>
            <a:r>
              <a:rPr lang="zh-CN" altLang="en-US" dirty="0" smtClean="0"/>
              <a:t>适用于高精度地形及水体表现</a:t>
            </a:r>
            <a:endParaRPr lang="en-US" altLang="zh-CN" dirty="0" smtClean="0"/>
          </a:p>
          <a:p>
            <a:r>
              <a:rPr lang="en-US" altLang="zh-CN" dirty="0" smtClean="0"/>
              <a:t>HBAO</a:t>
            </a:r>
            <a:r>
              <a:rPr lang="zh-CN" altLang="en-US" dirty="0" smtClean="0"/>
              <a:t>及</a:t>
            </a:r>
            <a:r>
              <a:rPr lang="en-US" altLang="zh-CN" dirty="0" err="1" smtClean="0"/>
              <a:t>BokehDOF</a:t>
            </a:r>
            <a:r>
              <a:rPr lang="zh-CN" altLang="en-US" dirty="0" smtClean="0"/>
              <a:t>因为视角和效率的原因，建议仅在特定镜头下使用</a:t>
            </a:r>
            <a:endParaRPr lang="en-US" altLang="zh-CN" dirty="0" smtClean="0"/>
          </a:p>
          <a:p>
            <a:r>
              <a:rPr lang="zh-CN" altLang="en-US" dirty="0" smtClean="0"/>
              <a:t>全屏粒子特效可以在需要的场合大量适用</a:t>
            </a:r>
            <a:endParaRPr lang="en-US" altLang="zh-CN" dirty="0" smtClean="0"/>
          </a:p>
          <a:p>
            <a:r>
              <a:rPr lang="zh-CN" altLang="en-US" dirty="0" smtClean="0"/>
              <a:t>布料模拟和物理破坏可在场景物件上小规模使用，前提是不影响游戏逻辑</a:t>
            </a:r>
            <a:endParaRPr lang="en-US" altLang="zh-CN" dirty="0" smtClean="0"/>
          </a:p>
          <a:p>
            <a:r>
              <a:rPr lang="en-US" altLang="zh-CN" dirty="0" smtClean="0"/>
              <a:t>Turbulence</a:t>
            </a:r>
            <a:r>
              <a:rPr lang="zh-CN" altLang="en-US" dirty="0" smtClean="0"/>
              <a:t>可考虑用于制作高级怪物，但也要考虑在</a:t>
            </a:r>
            <a:r>
              <a:rPr lang="en-US" altLang="zh-CN" dirty="0" smtClean="0"/>
              <a:t>A</a:t>
            </a:r>
            <a:r>
              <a:rPr lang="zh-CN" altLang="en-US" dirty="0" smtClean="0"/>
              <a:t>卡上的表现方式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谢谢！</a:t>
            </a:r>
            <a:endParaRPr lang="zh-CN" altLang="en-US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z</a:t>
            </a:r>
            <a:r>
              <a:rPr lang="en-US" altLang="zh-CN" dirty="0" smtClean="0"/>
              <a:t>huming.suker@snda.com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830</Words>
  <Application>Microsoft Office PowerPoint</Application>
  <PresentationFormat>全屏显示(4:3)</PresentationFormat>
  <Paragraphs>110</Paragraphs>
  <Slides>36</Slides>
  <Notes>20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37" baseType="lpstr">
      <vt:lpstr>Office 主题</vt:lpstr>
      <vt:lpstr>Benchmark技术总结</vt:lpstr>
      <vt:lpstr>Tessellation的应用</vt:lpstr>
      <vt:lpstr>地形tessellation（关闭）</vt:lpstr>
      <vt:lpstr>地形tessellation（打开）</vt:lpstr>
      <vt:lpstr>地形tessellation比较</vt:lpstr>
      <vt:lpstr>海水tessellation（关闭）</vt:lpstr>
      <vt:lpstr>海水tessellation（打开）</vt:lpstr>
      <vt:lpstr>海水tessellation比较</vt:lpstr>
      <vt:lpstr>Tessellation动态变化 1</vt:lpstr>
      <vt:lpstr>Tessellation动态变化 2</vt:lpstr>
      <vt:lpstr>Tessellation动态变化 3</vt:lpstr>
      <vt:lpstr>模型局部变化</vt:lpstr>
      <vt:lpstr>HBAO</vt:lpstr>
      <vt:lpstr>HBAO（关闭）</vt:lpstr>
      <vt:lpstr>HBAO（打开）</vt:lpstr>
      <vt:lpstr>HBAO（计算过程）</vt:lpstr>
      <vt:lpstr>BokehDOF</vt:lpstr>
      <vt:lpstr>No DOF</vt:lpstr>
      <vt:lpstr>开启BokehDOF</vt:lpstr>
      <vt:lpstr>No DOF</vt:lpstr>
      <vt:lpstr>Simple DOF</vt:lpstr>
      <vt:lpstr>BokehDOF</vt:lpstr>
      <vt:lpstr>全屏粒子特效</vt:lpstr>
      <vt:lpstr>全屏雪</vt:lpstr>
      <vt:lpstr>全屏雨</vt:lpstr>
      <vt:lpstr>布料模拟</vt:lpstr>
      <vt:lpstr>物理破坏</vt:lpstr>
      <vt:lpstr>Apex Turbulence</vt:lpstr>
      <vt:lpstr>Turbulence雪效果</vt:lpstr>
      <vt:lpstr>Turbulence交互-1</vt:lpstr>
      <vt:lpstr>Turbulence交互-2</vt:lpstr>
      <vt:lpstr>Turbulence交互-3</vt:lpstr>
      <vt:lpstr>Turbulence交互-4</vt:lpstr>
      <vt:lpstr>Turbulence交互-5</vt:lpstr>
      <vt:lpstr>总结</vt:lpstr>
      <vt:lpstr>谢谢！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Benchmark技术总结</dc:title>
  <dc:creator>zhuming</dc:creator>
  <cp:lastModifiedBy>zhuming</cp:lastModifiedBy>
  <cp:revision>44</cp:revision>
  <dcterms:created xsi:type="dcterms:W3CDTF">2013-05-13T06:50:06Z</dcterms:created>
  <dcterms:modified xsi:type="dcterms:W3CDTF">2013-05-15T03:43:50Z</dcterms:modified>
</cp:coreProperties>
</file>